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9"/>
    <p:sldId id="257" r:id="rId8"/>
    <p:sldId id="258" r:id="rId7"/>
    <p:sldId id="259" r:id="rId13"/>
    <p:sldId id="260" r:id="rId14"/>
    <p:sldId id="261" r:id="rId15"/>
    <p:sldId id="262" r:id="rId16"/>
    <p:sldId id="263" r:id="rId6"/>
    <p:sldId id="264" r:id="rId5"/>
    <p:sldId id="265" r:id="rId4"/>
    <p:sldId id="266" r:id="rId3"/>
    <p:sldId id="267" r:id="rId2"/>
    <p:sldId id="268" r:id="rId22"/>
    <p:sldId id="269" r:id="rId23"/>
    <p:sldId id="270" r:id="rId24"/>
    <p:sldId id="271" r:id="rId25"/>
  </p:sldIdLst>
  <p:sldSz cx="12192000" cy="6858000"/>
  <p:notesSz cx="6858000" cy="9144000"/>
  <p:embeddedFontLst>
    <p:embeddedFont>
      <p:font typeface="Fira Sans" panose="020B0503050000020004" pitchFamily="34" charset="0"/>
      <p:regular r:id="rId11"/>
    </p:embeddedFont>
    <p:embeddedFont>
      <p:font typeface="Marcellus" panose="020B0604020202020204" charset="0"/>
      <p:regular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bWDH9BgynZPotlxacZXWgy2wV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2.xml"/><Relationship Id="rId3" Type="http://schemas.openxmlformats.org/officeDocument/2006/relationships/slide" Target="slides/slide11.xml"/><Relationship Id="rId4" Type="http://schemas.openxmlformats.org/officeDocument/2006/relationships/slide" Target="slides/slide10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59485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6F93FA11-668E-5D27-6486-F2A3F91F37D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A7B1C99D-C4D1-45FD-111D-769C26834B4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2994A560-18DD-F7FA-6DD2-C824990422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6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8" name="Google Shape;28;p6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29" name="Google Shape;29;p6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200"/>
              <a:buFont typeface="Marcellu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45C52928-2C50-1A5B-EE93-8F4D4C23D2A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26B1B699-1655-BFF4-3EEC-1A8B6C6CF2B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C1EA1705-04BF-7289-C7D1-4935077A8E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200"/>
              <a:buFont typeface="Marcellu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A5A530D4-7988-DD93-1F79-72D4E4A7AE5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40917687-04A8-9A80-5C70-899E54DC239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7567F952-39E5-337F-9349-50B557408F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3BE4EE66-95F2-11F6-05EA-E5792929E64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CD790172-54B1-1878-459A-282E99A7FB4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04871C75-B572-7CC7-1B53-358A4FEE24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5D40BE01-A796-ADDE-1067-A85126FB981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C5F09E59-F1FA-4758-8DEB-A7EB3912E75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6FC11D24-EC12-A80C-ADB8-D5E74CECE3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8" name="Google Shape;88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213AF292-09D4-0240-9F52-B3CE283D196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20A4B550-7FFA-C52B-9952-E28A393DD04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2BC36ECE-C3D1-09DD-489B-CE38B06573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EABDB97A-1573-9AE9-7909-28C3E654614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184D9332-35CA-F8DE-8CC6-B575CA7CBF5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0179A92C-6424-95BD-C452-01B2896127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1E9D295B-756D-94F6-FA62-BAFD6BC1D42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80AB6F56-86EA-513F-E160-6DD1EE9C47B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0A8BF585-0ABE-47EC-65FA-540F276B8A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8" name="Google Shape;118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92DB2441-62E7-3832-5EE5-42D43B0B914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D868530D-AFB3-4C01-7548-464E74FEE2D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A663D57F-09FB-1768-75C6-36B36B9856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;p5">
            <a:extLst>
              <a:ext uri="{FF2B5EF4-FFF2-40B4-BE49-F238E27FC236}">
                <a16:creationId xmlns:a16="http://schemas.microsoft.com/office/drawing/2014/main" id="{44909106-E9FD-B340-07F3-E7E43E0C87E5}"/>
              </a:ext>
            </a:extLst>
          </p:cNvPr>
          <p:cNvSpPr/>
          <p:nvPr userDrawn="1"/>
        </p:nvSpPr>
        <p:spPr>
          <a:xfrm>
            <a:off x="0" y="6080760"/>
            <a:ext cx="838200" cy="79049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3;p5">
            <a:extLst>
              <a:ext uri="{FF2B5EF4-FFF2-40B4-BE49-F238E27FC236}">
                <a16:creationId xmlns:a16="http://schemas.microsoft.com/office/drawing/2014/main" id="{EAAF044C-1D0D-0CFE-1234-30E94B876495}"/>
              </a:ext>
            </a:extLst>
          </p:cNvPr>
          <p:cNvSpPr/>
          <p:nvPr userDrawn="1"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4;p5">
            <a:extLst>
              <a:ext uri="{FF2B5EF4-FFF2-40B4-BE49-F238E27FC236}">
                <a16:creationId xmlns:a16="http://schemas.microsoft.com/office/drawing/2014/main" id="{5526ECCB-9585-9619-412C-AF7D491C3AAD}"/>
              </a:ext>
            </a:extLst>
          </p:cNvPr>
          <p:cNvSpPr/>
          <p:nvPr userDrawn="1"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5" name="Google Shape;21;p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3B2F81F-E84E-30FC-261A-95AAEEBA8CF0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11124596" y="226123"/>
            <a:ext cx="728472" cy="539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62" y="141576"/>
            <a:ext cx="2316256" cy="708705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000" b="1">
                <a:solidFill>
                  <a:srgbClr val="8B1E3F"/>
                </a:solidFill>
                <a:latin typeface="Calibri"/>
              </a:rPr>
              <a:t>FitTrack: Personal Health, Nutrition
and Fitness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Web Programming Laboratory (WPL) Mini Project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Theme: SDG 3 - Good Health and Well-Being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1F1F1F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Neel Parikh  |  Roll No. 16014024052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Shourya Ranjan  |  Roll No. 16014024057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1F1F1F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Batch A-3  |  Branch: EXCP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K. J. Somaiya College of Engineering, Mumbai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8B1E3F"/>
                </a:solidFill>
                <a:latin typeface="Calibri"/>
              </a:rP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Calibri"/>
              </a:rPr>
              <a:t>1. Project Title and Team Details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Calibri"/>
              </a:rPr>
              <a:t>2. Problem Statement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Calibri"/>
              </a:rPr>
              <a:t>3. System Architecture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Calibri"/>
              </a:rPr>
              <a:t>4. Features of the Designed System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Calibri"/>
              </a:rPr>
              <a:t>5. Results and Demonstration Outcomes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Calibri"/>
              </a:rPr>
              <a:t>6. Conclusion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Calibri"/>
              </a:rPr>
              <a:t>7.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8B1E3F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Many individuals struggle to consistently track nutrition, workouts and daily health habits in one place.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Existing tools are often fragmented, complex, or lack an educational, student-friendly implementation.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There is a need for a unified web application that helps users: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Monitor calories, protein and meals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Record strength and cardio workouts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Track water, sleep and weight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Visualize daily progress through dashboards and charts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FitTrack addresses this need as a complete MERN-stack solution aligned with SDG 3: Good Health and Well-Being.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Note: FitTrack is an educational tracking tool and does not provide medical diagnosis.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8B1E3F"/>
                </a:solidFill>
                <a:latin typeface="Calibri"/>
              </a:rPr>
              <a:t>Project Objectives &amp; SDG Alignment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Objectives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Build a secure user authentication system using JWT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Enable nutrition search, logging and daily targets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Support workout creation with exercise library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Provide health habit tracking and progress charts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Demonstrate modular MERN architecture for viva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SDG 3 Contribution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Promote awareness of daily nutrition choices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Encourage consistent physical activity tracking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Support hydration, sleep and weight monitoring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Help users build healthier everyday habits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Educational focus - estimates, not medical advice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8B1E3F"/>
                </a:solidFill>
                <a:latin typeface="Calibri"/>
              </a:rPr>
              <a:t>System Architecture (MERN Stack)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2331720" cy="2148840"/>
          </a:xfrm>
          <a:prstGeom prst="roundRect">
            <a:avLst/>
          </a:prstGeom>
          <a:solidFill>
            <a:srgbClr val="F8F1F4"/>
          </a:solidFill>
          <a:ln w="19050">
            <a:solidFill>
              <a:srgbClr val="8B1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300" b="1">
                <a:solidFill>
                  <a:srgbClr val="8B1E3F"/>
                </a:solidFill>
                <a:latin typeface="Calibri"/>
              </a:rPr>
              <a:t>React Client
(Vite + Bootstrap)</a:t>
            </a:r>
          </a:p>
          <a:p>
            <a:pPr algn="ctr">
              <a:spcBef>
                <a:spcPts val="600"/>
              </a:spcBef>
            </a:pPr>
            <a:r>
              <a:rPr sz="1100" b="0">
                <a:solidFill>
                  <a:srgbClr val="1F1F1F"/>
                </a:solidFill>
                <a:latin typeface="Calibri"/>
              </a:rPr>
              <a:t>UI, Forms, Charts</a:t>
            </a:r>
          </a:p>
          <a:p>
            <a:pPr algn="ctr">
              <a:spcBef>
                <a:spcPts val="600"/>
              </a:spcBef>
            </a:pPr>
            <a:r>
              <a:rPr sz="1100" b="0">
                <a:solidFill>
                  <a:srgbClr val="1F1F1F"/>
                </a:solidFill>
                <a:latin typeface="Calibri"/>
              </a:rPr>
              <a:t>Protected Routes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6120" y="1554480"/>
            <a:ext cx="2331720" cy="2148840"/>
          </a:xfrm>
          <a:prstGeom prst="roundRect">
            <a:avLst/>
          </a:prstGeom>
          <a:solidFill>
            <a:srgbClr val="F8F1F4"/>
          </a:solidFill>
          <a:ln w="19050">
            <a:solidFill>
              <a:srgbClr val="8B1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300" b="1">
                <a:solidFill>
                  <a:srgbClr val="8B1E3F"/>
                </a:solidFill>
                <a:latin typeface="Calibri"/>
              </a:rPr>
              <a:t>REST API
(Express.js)</a:t>
            </a:r>
          </a:p>
          <a:p>
            <a:pPr algn="ctr">
              <a:spcBef>
                <a:spcPts val="600"/>
              </a:spcBef>
            </a:pPr>
            <a:r>
              <a:rPr sz="1100" b="0">
                <a:solidFill>
                  <a:srgbClr val="1F1F1F"/>
                </a:solidFill>
                <a:latin typeface="Calibri"/>
              </a:rPr>
              <a:t>JWT Auth, Validation</a:t>
            </a:r>
          </a:p>
          <a:p>
            <a:pPr algn="ctr">
              <a:spcBef>
                <a:spcPts val="600"/>
              </a:spcBef>
            </a:pPr>
            <a:r>
              <a:rPr sz="1100" b="0">
                <a:solidFill>
                  <a:srgbClr val="1F1F1F"/>
                </a:solidFill>
                <a:latin typeface="Calibri"/>
              </a:rPr>
              <a:t>Controllers &amp; Routes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0" y="1554480"/>
            <a:ext cx="2331720" cy="2148840"/>
          </a:xfrm>
          <a:prstGeom prst="roundRect">
            <a:avLst/>
          </a:prstGeom>
          <a:solidFill>
            <a:srgbClr val="F8F1F4"/>
          </a:solidFill>
          <a:ln w="19050">
            <a:solidFill>
              <a:srgbClr val="8B1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300" b="1">
                <a:solidFill>
                  <a:srgbClr val="8B1E3F"/>
                </a:solidFill>
                <a:latin typeface="Calibri"/>
              </a:rPr>
              <a:t>Data Layer
(Mongoose)</a:t>
            </a:r>
          </a:p>
          <a:p>
            <a:pPr algn="ctr">
              <a:spcBef>
                <a:spcPts val="600"/>
              </a:spcBef>
            </a:pPr>
            <a:r>
              <a:rPr sz="1100" b="0">
                <a:solidFill>
                  <a:srgbClr val="1F1F1F"/>
                </a:solidFill>
                <a:latin typeface="Calibri"/>
              </a:rPr>
              <a:t>Schemas, Indexes</a:t>
            </a:r>
          </a:p>
          <a:p>
            <a:pPr algn="ctr">
              <a:spcBef>
                <a:spcPts val="600"/>
              </a:spcBef>
            </a:pPr>
            <a:r>
              <a:rPr sz="1100" b="0">
                <a:solidFill>
                  <a:srgbClr val="1F1F1F"/>
                </a:solidFill>
                <a:latin typeface="Calibri"/>
              </a:rPr>
              <a:t>CRUD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554480"/>
            <a:ext cx="2331720" cy="2148840"/>
          </a:xfrm>
          <a:prstGeom prst="roundRect">
            <a:avLst/>
          </a:prstGeom>
          <a:solidFill>
            <a:srgbClr val="F8F1F4"/>
          </a:solidFill>
          <a:ln w="19050">
            <a:solidFill>
              <a:srgbClr val="8B1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300" b="1">
                <a:solidFill>
                  <a:srgbClr val="8B1E3F"/>
                </a:solidFill>
                <a:latin typeface="Calibri"/>
              </a:rPr>
              <a:t>MongoDB
Database</a:t>
            </a:r>
          </a:p>
          <a:p>
            <a:pPr algn="ctr">
              <a:spcBef>
                <a:spcPts val="600"/>
              </a:spcBef>
            </a:pPr>
            <a:r>
              <a:rPr sz="1100" b="0">
                <a:solidFill>
                  <a:srgbClr val="1F1F1F"/>
                </a:solidFill>
                <a:latin typeface="Calibri"/>
              </a:rPr>
              <a:t>Users, Foods, Logs</a:t>
            </a:r>
          </a:p>
          <a:p>
            <a:pPr algn="ctr">
              <a:spcBef>
                <a:spcPts val="600"/>
              </a:spcBef>
            </a:pPr>
            <a:r>
              <a:rPr sz="1100" b="0">
                <a:solidFill>
                  <a:srgbClr val="1F1F1F"/>
                </a:solidFill>
                <a:latin typeface="Calibri"/>
              </a:rPr>
              <a:t>Workouts,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6C00"/>
                </a:solidFill>
                <a:latin typeface="Calibri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6C00"/>
                </a:solidFill>
                <a:latin typeface="Calibri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6C00"/>
                </a:solidFill>
                <a:latin typeface="Calibr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4A4A"/>
                </a:solidFill>
                <a:latin typeface="Calibri"/>
              </a:rPr>
              <a:t>Data Flow: Browser  &gt;  Axios REST Calls  &gt;  Express Middleware (JWT)  &gt;  Mongoose Models  &gt;  MongoDB Collections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8B1E3F"/>
                </a:solidFill>
                <a:latin typeface="Calibri"/>
              </a:rPr>
              <a:t>Modular Backend &amp; Frontend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Backend Modules (completely modular with clear function separation)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Models: User, Food, FoodLog, Exercise, Workout, HealthLog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Controllers: Auth, Users, Foods, FoodLogs, Workouts, Health, Dashboard, Progress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Middleware: JWT protect, express-validator, centralized error handler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Utilities: nutrition target calculator (Mifflin-St Jeor), token generation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Frontend Modules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Pages, reusable components, AuthContext, Axios service layer, layouts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Protected routes for dashboard pages; public routes for Home/About/Auth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This modular structure makes the project viva-friendly and maintainable.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8B1E3F"/>
                </a:solidFill>
                <a:latin typeface="Calibri"/>
              </a:rPr>
              <a:t>Technology Stack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F1F1F"/>
                </a:solidFill>
                <a:latin typeface="Calibri"/>
              </a:rPr>
              <a:t>Frontend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React + Vite (JavaScript)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Bootstrap 5 + Bootstrap Icons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React Router, Axios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Chart.js / react-chartjs-2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Responsive custom CSS theme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1F1F1F"/>
                </a:solidFill>
                <a:latin typeface="Calibri"/>
              </a:rPr>
              <a:t>Backend &amp; Database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Node.js + Express.js REST API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MongoDB + Mongoose ODM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JWT Authentication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bcryptjs password hashing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express-validator + CORS + dotenv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8B1E3F"/>
                </a:solidFill>
                <a:latin typeface="Calibri"/>
              </a:rPr>
              <a:t>Features of the Designed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00200"/>
            <a:ext cx="3291840" cy="29260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8B1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1200" b="1">
                <a:solidFill>
                  <a:srgbClr val="E86C00"/>
                </a:solidFill>
                <a:latin typeface="Calibri"/>
              </a:rPr>
              <a:t>Pillar 1</a:t>
            </a:r>
          </a:p>
          <a:p>
            <a:pPr algn="ctr">
              <a:spcBef>
                <a:spcPts val="1000"/>
              </a:spcBef>
            </a:pPr>
            <a:r>
              <a:rPr sz="1600" b="1">
                <a:solidFill>
                  <a:srgbClr val="8B1E3F"/>
                </a:solidFill>
                <a:latin typeface="Calibri"/>
              </a:rPr>
              <a:t>Nutrition &amp;
Protein Tracking</a:t>
            </a:r>
          </a:p>
          <a:p>
            <a:pPr algn="ctr">
              <a:spcBef>
                <a:spcPts val="1400"/>
              </a:spcBef>
            </a:pPr>
            <a:r>
              <a:rPr sz="1300" b="0">
                <a:solidFill>
                  <a:srgbClr val="1F1F1F"/>
                </a:solidFill>
                <a:latin typeface="Calibri"/>
              </a:rPr>
              <a:t>Food DB, meal logs,
calorie &amp; protein targets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00200"/>
            <a:ext cx="3291840" cy="29260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8B1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1200" b="1">
                <a:solidFill>
                  <a:srgbClr val="E86C00"/>
                </a:solidFill>
                <a:latin typeface="Calibri"/>
              </a:rPr>
              <a:t>Pillar 2</a:t>
            </a:r>
          </a:p>
          <a:p>
            <a:pPr algn="ctr">
              <a:spcBef>
                <a:spcPts val="1000"/>
              </a:spcBef>
            </a:pPr>
            <a:r>
              <a:rPr sz="1600" b="1">
                <a:solidFill>
                  <a:srgbClr val="8B1E3F"/>
                </a:solidFill>
                <a:latin typeface="Calibri"/>
              </a:rPr>
              <a:t>Workout &amp;
Exercise Tracking</a:t>
            </a:r>
          </a:p>
          <a:p>
            <a:pPr algn="ctr">
              <a:spcBef>
                <a:spcPts val="1400"/>
              </a:spcBef>
            </a:pPr>
            <a:r>
              <a:rPr sz="1300" b="0">
                <a:solidFill>
                  <a:srgbClr val="1F1F1F"/>
                </a:solidFill>
                <a:latin typeface="Calibri"/>
              </a:rPr>
              <a:t>Exercise library,
sets/reps/cardio logs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00200"/>
            <a:ext cx="3291840" cy="29260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8B1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1200" b="1">
                <a:solidFill>
                  <a:srgbClr val="E86C00"/>
                </a:solidFill>
                <a:latin typeface="Calibri"/>
              </a:rPr>
              <a:t>Pillar 3</a:t>
            </a:r>
          </a:p>
          <a:p>
            <a:pPr algn="ctr">
              <a:spcBef>
                <a:spcPts val="1000"/>
              </a:spcBef>
            </a:pPr>
            <a:r>
              <a:rPr sz="1600" b="1">
                <a:solidFill>
                  <a:srgbClr val="8B1E3F"/>
                </a:solidFill>
                <a:latin typeface="Calibri"/>
              </a:rPr>
              <a:t>Health Dashboard
&amp; Progress</a:t>
            </a:r>
          </a:p>
          <a:p>
            <a:pPr algn="ctr">
              <a:spcBef>
                <a:spcPts val="1400"/>
              </a:spcBef>
            </a:pPr>
            <a:r>
              <a:rPr sz="1300" b="0">
                <a:solidFill>
                  <a:srgbClr val="1F1F1F"/>
                </a:solidFill>
                <a:latin typeface="Calibri"/>
              </a:rPr>
              <a:t>Water, sleep, weight,
Chart.js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8B1E3F"/>
                </a:solidFill>
                <a:latin typeface="Calibri"/>
              </a:rPr>
              <a:t>Feature Deep Dive - Nutrition Module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Seeded food database with categories: Protein, Grains, Fruits, Vegetables, Snacks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Search + category filters; select food, quantity and meal type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Dynamic nutrition scaling (example: Chicken Breast 150 g -&gt; 247.5 kcal, 46.5 g protein)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Food logs grouped by Breakfast, Lunch, Dinner and Snacks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Custom food creation with validation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Daily calorie and protein targets using Mifflin-St Jeor BMR x activity x goal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Progress bars comparing intake vs target on Nutrition page and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8B1E3F"/>
                </a:solidFill>
                <a:latin typeface="Calibri"/>
              </a:rPr>
              <a:t>Feature Deep Dive - Workouts &amp; Health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Workout Module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Exercise library with search &amp; filters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Categories: Strength, Cardio, Bodyweight, Flexibility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Log sets, reps, weight or duration/distance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Save completed workouts and view history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Delete and review workout details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Health &amp; Progress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Daily water intake (ml)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Sleep duration (hours)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Body weight logging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Dashboard summary cards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Charts for 7 / 30 / 90 days (real data only)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8B1E3F"/>
                </a:solidFill>
                <a:latin typeface="Calibri"/>
              </a:rPr>
              <a:t>Authentication, Security &amp; Validation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User registration and login with email uniqueness checks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Passwords hashed using bcryptjs (never stored in plaintext)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JWT tokens issued on login/register; Authorization: Bearer middleware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Protected frontend routes (/app/*) and protected REST endpoints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Users can access only their own food logs, workouts and health data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Input validation on both frontend forms and backend (express-validator)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Centralized API error responses: { success, message/data }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Secrets and Mongo URI stored in environment variables (.env)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8B1E3F"/>
                </a:solidFill>
                <a:latin typeface="Calibri"/>
              </a:rPr>
              <a:t>Results - Working System Outcomes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Successfully developed a complete, runnable MERN application: FitTrack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Verified end-to-end flows: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User registration, login and profile target calculation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Food search, meal logging and daily nutrition totals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Workout creation from exercise library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Health habit logging and dashboard aggregation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Progress charts generated from real MongoDB data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Seed data: 34 foods and 22 exercises for immediate usability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Responsive UI with professional health/fitness visual design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Application runs locally: Client :5173 | API :5000 | MongoDB :27017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8B1E3F"/>
                </a:solidFill>
                <a:latin typeface="Calibri"/>
              </a:rPr>
              <a:t>Testing - Sample Test 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Calibri"/>
              </a:rPr>
              <a:t>TC01 Register with valid details -&gt; Account created, JWT returned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Calibri"/>
              </a:rPr>
              <a:t>TC02 Register with duplicate email -&gt; 400 validation error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Calibri"/>
              </a:rPr>
              <a:t>TC03 Login with wrong password -&gt; 401 Unauthorized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Calibri"/>
              </a:rPr>
              <a:t>TC04 Access /api/dashboard without token -&gt; 401 blocked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Calibri"/>
              </a:rPr>
              <a:t>TC05 Log Chicken Breast 150 g -&gt; Calories 247.5, Protein 46.5 computed correctly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Calibri"/>
              </a:rPr>
              <a:t>TC06 Create workout with sets/reps -&gt; Saved and visible in history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Calibri"/>
              </a:rPr>
              <a:t>TC07 Update profile age/height/weight -&gt; Calorie &amp; protein targets recalculated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Calibri"/>
              </a:rPr>
              <a:t>TC08 Progress page with no prior data -&gt; Empty state (no fabricated charts)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Calibri"/>
              </a:rPr>
              <a:t>TC09 Mobile/responsive layout -&gt; Sidebar collapses; no horizontal scroll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8B1E3F"/>
                </a:solidFill>
                <a:latin typeface="Calibri"/>
              </a:rPr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FitTrack successfully demonstrates a full-stack MERN solution for personal health tracking.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The system integrates three core pillars - Nutrition, Workouts and Health Progress - into one cohesive application.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Modular architecture, JWT security, validation and real MongoDB persistence make the project robust and viva-ready.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Aligned with SDG 3 by promoting awareness of everyday well-being habits through practical digital tracking.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Future scope: meal templates, workout plans, PDF reports and enhanced analytics.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Limitation: nutritional calculations are educational estimates and not medical advice.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8B1E3F"/>
                </a:solidFill>
                <a:latin typeface="Calibri"/>
              </a:rPr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Calibri"/>
              </a:rPr>
              <a:t>United Nations - Sustainable Development Goal 3: Good Health and Well-Being. https://sdgs.un.org/goals/goal3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Calibri"/>
              </a:rPr>
              <a:t>MongoDB Documentation. https://www.mongodb.com/docs/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Calibri"/>
              </a:rPr>
              <a:t>Express.js Documentation. https://expressjs.com/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Calibri"/>
              </a:rPr>
              <a:t>React Documentation. https://react.dev/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Calibri"/>
              </a:rPr>
              <a:t>Mongoose ODM Documentation. https://mongoosejs.com/docs/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Calibri"/>
              </a:rPr>
              <a:t>Chart.js Documentation. https://www.chartjs.org/docs/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Calibri"/>
              </a:rPr>
              <a:t>Mifflin, M. D. et al. - A new predictive equation for resting energy expenditure (Mifflin-St Jeor).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Calibri"/>
              </a:rPr>
              <a:t>Bootstrap 5 Documentation. https://getbootstrap.com/docs/5.3/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1F1F"/>
                </a:solidFill>
                <a:latin typeface="Calibri"/>
              </a:rPr>
              <a:t>JSON Web Token (RFC 7519) and bcrypt password hashing references.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8B1E3F"/>
                </a:solidFill>
                <a:latin typeface="Calibri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600" b="1">
                <a:solidFill>
                  <a:srgbClr val="1F1F1F"/>
                </a:solidFill>
                <a:latin typeface="Calibri"/>
              </a:rPr>
              <a:t>Questions &amp; Discussion Welcome</a:t>
            </a:r>
          </a:p>
          <a:p>
            <a:pPr algn="ctr"/>
            <a:r>
              <a:rPr sz="800" b="0">
                <a:solidFill>
                  <a:srgbClr val="1F1F1F"/>
                </a:solidFill>
                <a:latin typeface="Calibri"/>
              </a:rPr>
              <a:t/>
            </a:r>
          </a:p>
          <a:p>
            <a:pPr algn="ctr"/>
            <a:r>
              <a:rPr sz="1600" b="1">
                <a:solidFill>
                  <a:srgbClr val="1F1F1F"/>
                </a:solidFill>
                <a:latin typeface="Calibri"/>
              </a:rPr>
              <a:t>Neel Parikh - 16014024052</a:t>
            </a:r>
          </a:p>
          <a:p>
            <a:pPr algn="ctr"/>
            <a:r>
              <a:rPr sz="1600" b="1">
                <a:solidFill>
                  <a:srgbClr val="1F1F1F"/>
                </a:solidFill>
                <a:latin typeface="Calibri"/>
              </a:rPr>
              <a:t>Shourya Ranjan - 16014024057</a:t>
            </a:r>
          </a:p>
          <a:p>
            <a:pPr algn="ctr"/>
            <a:r>
              <a:rPr sz="1600" b="0">
                <a:solidFill>
                  <a:srgbClr val="1F1F1F"/>
                </a:solidFill>
                <a:latin typeface="Calibri"/>
              </a:rPr>
              <a:t>Batch A-3 | EXCP | WPL Mini Project</a:t>
            </a:r>
          </a:p>
          <a:p>
            <a:pPr algn="ctr"/>
            <a:r>
              <a:rPr sz="800" b="0">
                <a:solidFill>
                  <a:srgbClr val="1F1F1F"/>
                </a:solidFill>
                <a:latin typeface="Calibri"/>
              </a:rPr>
              <a:t/>
            </a:r>
          </a:p>
          <a:p>
            <a:pPr algn="ctr"/>
            <a:r>
              <a:rPr sz="1600" b="0">
                <a:solidFill>
                  <a:srgbClr val="1F1F1F"/>
                </a:solidFill>
                <a:latin typeface="Calibri"/>
              </a:rPr>
              <a:t>K. J. Somaiya College of Engineering</a:t>
            </a:r>
          </a:p>
          <a:p>
            <a:pPr algn="ctr"/>
            <a:r>
              <a:rPr sz="1600" b="0">
                <a:solidFill>
                  <a:srgbClr val="1F1F1F"/>
                </a:solidFill>
                <a:latin typeface="Calibri"/>
              </a:rPr>
              <a:t>Somaiya Vidyavihar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omaiya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22</Words>
  <Application>Microsoft Office PowerPoint</Application>
  <PresentationFormat>Widescreen</PresentationFormat>
  <Paragraphs>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Fira Sans</vt:lpstr>
      <vt:lpstr>Times New Roman</vt:lpstr>
      <vt:lpstr>Arial</vt:lpstr>
      <vt:lpstr>Calibri</vt:lpstr>
      <vt:lpstr>Marcellus</vt:lpstr>
      <vt:lpstr>Office Theme</vt:lpstr>
      <vt:lpstr>Title</vt:lpstr>
      <vt:lpstr>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Pushpendra Kumar Dhansoia</dc:creator>
  <cp:lastModifiedBy>Nandana Prabhu</cp:lastModifiedBy>
  <cp:revision>7</cp:revision>
  <dcterms:created xsi:type="dcterms:W3CDTF">2022-02-21T05:08:08Z</dcterms:created>
  <dcterms:modified xsi:type="dcterms:W3CDTF">2026-06-03T06:15:38Z</dcterms:modified>
</cp:coreProperties>
</file>